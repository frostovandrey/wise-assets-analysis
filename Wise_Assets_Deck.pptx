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7.xml"/>
  <Relationship Id="rId14" Type="http://schemas.openxmlformats.org/officeDocument/2006/relationships/slide" Target="slides/slide8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3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3300"/>
                </a:solidFill>
                <a:latin typeface="Arial"/>
              </a:rPr>
              <a:t>Conversion rises with product depth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rgbClr val="5E9B2E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1F0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product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products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2.5999999999999999E-3</c:v>
                </c:pt>
                <c:pt idx="1">
                  <c:v>2.4500000000000001E-2</c:v>
                </c:pt>
                <c:pt idx="2">
                  <c:v>6.0299999999999999E-2</c:v>
                </c:pt>
                <c:pt idx="3">
                  <c:v>5.8500000000000003E-2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43-41B7-AD71-2A232377DE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4000000000000001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3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63300"/>
                </a:solidFill>
                <a:latin typeface="Arial"/>
              </a:rPr>
              <a:t>Assets customers in the sampled cohort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 cap="flat">
              <a:solidFill>
                <a:srgbClr val="1633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Jan-23</c:v>
                </c:pt>
                <c:pt idx="1">
                  <c:v>Mar-23</c:v>
                </c:pt>
                <c:pt idx="2">
                  <c:v>May-23</c:v>
                </c:pt>
                <c:pt idx="3">
                  <c:v>Jul-23</c:v>
                </c:pt>
                <c:pt idx="4">
                  <c:v>Sep-23</c:v>
                </c:pt>
                <c:pt idx="5">
                  <c:v>Nov-23</c:v>
                </c:pt>
                <c:pt idx="6">
                  <c:v>Jan-24</c:v>
                </c:pt>
                <c:pt idx="7">
                  <c:v>Mar-24</c:v>
                </c:pt>
                <c:pt idx="8">
                  <c:v>May-24</c:v>
                </c:pt>
                <c:pt idx="9">
                  <c:v>Jul-24</c:v>
                </c:pt>
                <c:pt idx="10">
                  <c:v>Sep-24</c:v>
                </c:pt>
                <c:pt idx="11">
                  <c:v>Nov-24</c:v>
                </c:pt>
                <c:pt idx="12">
                  <c:v>Jan-25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11</c:v>
                </c:pt>
                <c:pt idx="1">
                  <c:v>29</c:v>
                </c:pt>
                <c:pt idx="2">
                  <c:v>60</c:v>
                </c:pt>
                <c:pt idx="3">
                  <c:v>127</c:v>
                </c:pt>
                <c:pt idx="4">
                  <c:v>180</c:v>
                </c:pt>
                <c:pt idx="5">
                  <c:v>200</c:v>
                </c:pt>
                <c:pt idx="6">
                  <c:v>225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D7-4B72-90E0-AFA4E11E56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(base)</c:v>
                </c:pt>
              </c:strCache>
            </c:strRef>
          </c:tx>
          <c:spPr>
            <a:ln w="38100" cap="flat">
              <a:solidFill>
                <a:srgbClr val="5E9B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Jan-23</c:v>
                </c:pt>
                <c:pt idx="1">
                  <c:v>Mar-23</c:v>
                </c:pt>
                <c:pt idx="2">
                  <c:v>May-23</c:v>
                </c:pt>
                <c:pt idx="3">
                  <c:v>Jul-23</c:v>
                </c:pt>
                <c:pt idx="4">
                  <c:v>Sep-23</c:v>
                </c:pt>
                <c:pt idx="5">
                  <c:v>Nov-23</c:v>
                </c:pt>
                <c:pt idx="6">
                  <c:v>Jan-24</c:v>
                </c:pt>
                <c:pt idx="7">
                  <c:v>Mar-24</c:v>
                </c:pt>
                <c:pt idx="8">
                  <c:v>May-24</c:v>
                </c:pt>
                <c:pt idx="9">
                  <c:v>Jul-24</c:v>
                </c:pt>
                <c:pt idx="10">
                  <c:v>Sep-24</c:v>
                </c:pt>
                <c:pt idx="11">
                  <c:v>Nov-24</c:v>
                </c:pt>
                <c:pt idx="12">
                  <c:v>Jan-25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6">
                  <c:v>225</c:v>
                </c:pt>
                <c:pt idx="7">
                  <c:v>253</c:v>
                </c:pt>
                <c:pt idx="8">
                  <c:v>282</c:v>
                </c:pt>
                <c:pt idx="9">
                  <c:v>310</c:v>
                </c:pt>
                <c:pt idx="10">
                  <c:v>334</c:v>
                </c:pt>
                <c:pt idx="11">
                  <c:v>355</c:v>
                </c:pt>
                <c:pt idx="12">
                  <c:v>373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D7-4B72-90E0-AFA4E11E5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50" b="0" i="0" u="none" strike="noStrike">
                <a:solidFill>
                  <a:srgbClr val="6B7A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A6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3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63300"/>
                </a:solidFill>
                <a:latin typeface="Arial"/>
              </a:rPr>
              <a:t>Holdings by asset, sample level (£m)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C9DF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Jun-23 actual</c:v>
                </c:pt>
                <c:pt idx="1">
                  <c:v>Jun-24 forecast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5.5</c:v>
                </c:pt>
                <c:pt idx="1">
                  <c:v>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38-4503-B4F0-3A9703A561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Interest</c:v>
                </c:pt>
              </c:strCache>
            </c:strRef>
          </c:tx>
          <c:spPr>
            <a:solidFill>
              <a:srgbClr val="3C7A1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Jun-23 actual</c:v>
                </c:pt>
                <c:pt idx="1">
                  <c:v>Jun-24 forecast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1.25</c:v>
                </c:pt>
                <c:pt idx="1">
                  <c:v>4.05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38-4503-B4F0-3A9703A561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rgbClr val="9FE87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Jun-23 actual</c:v>
                </c:pt>
                <c:pt idx="1">
                  <c:v>Jun-24 forecast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1.9E-2</c:v>
                </c:pt>
                <c:pt idx="1">
                  <c:v>5.7000000000000002E-2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38-4503-B4F0-3A9703A561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A6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5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conversion is 2.25% of all signups but 3.83% of customers who can actually invest. Adoption is accelerating despite what the raw monthly trend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check is the important bit: I compared FIRST_ASSETS against every other FIRST_* timestamp. All 225 had funded a balance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debit does not cause investing. Both reflect a customer treating Wise as a primary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on the sampled cohort is 306 conservative to 463 optimistic, driven by how fast the tail growth fades.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 grew 177x in six months while equity grew 4.9x. Without damping, a naive extrapolation would be wildly inflated.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judgement calls worth defending: the tail-decay assumption in the customer forecast and the damping assumption in the holdings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image" Target="../media/dash1.png"/><Relationship Id="rId3" Type="http://schemas.openxmlformats.org/officeDocument/2006/relationships/image" Target="../media/dash2.png"/><Relationship Id="rId4" Type="http://schemas.openxmlformats.org/officeDocument/2006/relationships/image" Target="../media/dash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adoption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0299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customers are adopting it, and what the next 12 months look like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Andrii Morozov  |  Portfolio project  |  October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822960" y="36393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Assets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590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signups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4290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611880" y="36393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3.83%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1188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Assets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4590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who fund a balance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4290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400800" y="36393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080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Assets customers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590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cohort, 12 months 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34290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9189720" y="36393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£413m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18972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holdings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9720" y="4590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Jun-2024, all customers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10,000 sampled profiles created Jan-Jun 2023  ·  225 of them invested  ·  Built with MySQL, Excel and Power BI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is 2.25%, but 3.83% is the number to manage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across all 10,000 sampled profiles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9FE87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617720" y="20848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created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0848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9FE87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a first 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2743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01568"/>
            <a:ext cx="2258202" cy="457200"/>
          </a:xfrm>
          <a:prstGeom prst="roundRect">
            <a:avLst>
              <a:gd name="adj" fmla="val 12000"/>
            </a:avLst>
          </a:prstGeom>
          <a:solidFill>
            <a:srgbClr val="5E9B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617720" y="3401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a balance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5,879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34015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59936"/>
            <a:ext cx="2258202" cy="457200"/>
          </a:xfrm>
          <a:prstGeom prst="roundRect">
            <a:avLst>
              <a:gd name="adj" fmla="val 12000"/>
            </a:avLst>
          </a:prstGeom>
          <a:solidFill>
            <a:srgbClr val="5E9B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617720" y="40599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the balance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0599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5,879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405993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718304"/>
            <a:ext cx="256032" cy="457200"/>
          </a:xfrm>
          <a:prstGeom prst="roundRect">
            <a:avLst>
              <a:gd name="adj" fmla="val 21429"/>
            </a:avLst>
          </a:prstGeom>
          <a:solidFill>
            <a:srgbClr val="1633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617720" y="47183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Invested in Assets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471830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4681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24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never fund a balance and are structurally unable to invest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86600" y="1627632"/>
            <a:ext cx="4434840" cy="1874520"/>
          </a:xfrm>
          <a:prstGeom prst="roundRect">
            <a:avLst>
              <a:gd name="adj" fmla="val 3902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7315200" y="17830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225 investors funded a balance first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0" y="21214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most of them: every single one. Holding and funding a balance is a hard gate with zero exceptions in 225 cases. Everything else in the product is optional.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0" y="3063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measure conversion on the funded base, not on signups.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36758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225 investors had already done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86600" y="40416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+ funded a balance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72600" y="4123944"/>
            <a:ext cx="1600200" cy="182880"/>
          </a:xfrm>
          <a:prstGeom prst="roundRect">
            <a:avLst>
              <a:gd name="adj" fmla="val 25000"/>
            </a:avLst>
          </a:prstGeom>
          <a:solidFill>
            <a:srgbClr val="5E9B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11018520" y="40416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86600" y="4462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account details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72600" y="4544568"/>
            <a:ext cx="944118" cy="182880"/>
          </a:xfrm>
          <a:prstGeom prst="roundRect">
            <a:avLst>
              <a:gd name="adj" fmla="val 25000"/>
            </a:avLst>
          </a:prstGeom>
          <a:solidFill>
            <a:srgbClr val="5E9B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11018520" y="4462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86600" y="48828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transaction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372600" y="4965192"/>
            <a:ext cx="816102" cy="182880"/>
          </a:xfrm>
          <a:prstGeom prst="roundRect">
            <a:avLst>
              <a:gd name="adj" fmla="val 25000"/>
            </a:avLst>
          </a:prstGeom>
          <a:solidFill>
            <a:srgbClr val="5E9B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11018520" y="48828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86600" y="5303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money abroad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372600" y="5385816"/>
            <a:ext cx="192024" cy="182880"/>
          </a:xfrm>
          <a:prstGeom prst="roundRect">
            <a:avLst>
              <a:gd name="adj" fmla="val 25000"/>
            </a:avLst>
          </a:prstGeom>
          <a:solidFill>
            <a:srgbClr val="C2491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11018520" y="53035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86600" y="57790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money abroad is almost irrelevant to Assets adoption.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CONVERSION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is for money that stays, not money that moves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 at one product  →  12.0% at five. A 46x spread.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29400" y="17373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signals that hold 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29400" y="2121408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6784848" y="217627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882128" y="22037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debit users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82128" y="24505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3.8% funded average, the strongest single behavioural marker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29400" y="2990088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6784848" y="304495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882128" y="3072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holding £10k+ cash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882128" y="33192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3.4% for customers who keep nothing at Wise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29400" y="3858768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Text 13"/>
          <p:cNvSpPr/>
          <p:nvPr/>
        </p:nvSpPr>
        <p:spPr>
          <a:xfrm>
            <a:off x="6784848" y="391363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882128" y="3941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customers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882128" y="41879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only 1.2x once you control for funding, so mostly a funding effect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29400" y="4727448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BEDE6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6784848" y="478231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24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882128" y="4809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who send money abroad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882128" y="5056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product NEGATIVELY associated with investing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29400" y="56509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associations, not causal effects. The common thread: conversion tracks how far Wise is the customer's primary account.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FORECAST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is accelerating: the raw monthly trend hides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BEDE6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841248" y="17739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04825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sign-ups peak in Jun-2023 then fall. But nobody joins this sample after Jun-2023, so the group is simply ageing. A falling line is what a fixed, ageing pool always looks like.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841248" y="34381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compare cohorts at equal 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76732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7 months 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41248" y="44439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Jan-23 cohort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8036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80360" y="44439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Jun-23 cohort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34840" y="3931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chain-ladder on a cohort development triangle. Age-to-age growth factors taken from the observed data, tail decayed beyond month 12. Cross-check: the model implies 8-15 new investors a month through 2024 against 8-14 actually observed.</a:t>
            </a:r>
            <a:endParaRPr lang="en-US" sz="9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989320" y="1645920"/>
          <a:ext cx="55778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9098280" y="4956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Jan-2024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104120" y="4956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Jan-2025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9320" y="5193792"/>
            <a:ext cx="5577840" cy="493776"/>
          </a:xfrm>
          <a:prstGeom prst="roundRect">
            <a:avLst>
              <a:gd name="adj" fmla="val 14815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/>
          <p:nvPr/>
        </p:nvSpPr>
        <p:spPr>
          <a:xfrm>
            <a:off x="6144768" y="519379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 cohort (10,000 profiles)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098280" y="51937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104120" y="51937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018520" y="519379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89320" y="5760720"/>
            <a:ext cx="5577840" cy="493776"/>
          </a:xfrm>
          <a:prstGeom prst="roundRect">
            <a:avLst>
              <a:gd name="adj" fmla="val 14815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6144768" y="57607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customer base, 2023 vintages 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098280" y="576072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104120" y="576072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52.7k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018520" y="576072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 FORECAST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is an interest business, and a concentrated one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023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 £5.50m → £6.76m      Interest  £1.25m → £4.05m      Equity  £19k → £57k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53400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move from 19% to 38% of everything customers hold.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55080" y="1719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to the whole customer base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49640" y="20665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Jun-2023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92640" y="20665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Jun-2024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55080" y="2331720"/>
            <a:ext cx="5166360" cy="475488"/>
          </a:xfrm>
          <a:prstGeom prst="roundRect">
            <a:avLst>
              <a:gd name="adj" fmla="val 15385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6537960" y="23317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49640" y="23317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£47.7m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692640" y="23317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£154m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835640" y="23317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2880360"/>
            <a:ext cx="5166360" cy="475488"/>
          </a:xfrm>
          <a:prstGeom prst="roundRect">
            <a:avLst>
              <a:gd name="adj" fmla="val 15385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Text 13"/>
          <p:cNvSpPr/>
          <p:nvPr/>
        </p:nvSpPr>
        <p:spPr>
          <a:xfrm>
            <a:off x="6537960" y="28803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49640" y="28803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£0.7m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692640" y="28803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£2.2m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835640" y="288036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3.1x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55080" y="3429000"/>
            <a:ext cx="5166360" cy="475488"/>
          </a:xfrm>
          <a:prstGeom prst="roundRect">
            <a:avLst>
              <a:gd name="adj" fmla="val 15385"/>
            </a:avLst>
          </a:prstGeom>
          <a:solidFill>
            <a:srgbClr val="EFF7E9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/>
          <p:nvPr/>
        </p:nvSpPr>
        <p:spPr>
          <a:xfrm>
            <a:off x="6537960" y="34290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49640" y="342900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£209m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692640" y="342900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£257m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835640" y="34290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1.2x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355080" y="3977640"/>
            <a:ext cx="5166360" cy="475488"/>
          </a:xfrm>
          <a:prstGeom prst="roundRect">
            <a:avLst>
              <a:gd name="adj" fmla="val 15385"/>
            </a:avLst>
          </a:prstGeom>
          <a:solidFill>
            <a:srgbClr val="DDEECF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6537960" y="39776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holdings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49640" y="39776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£258m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692640" y="39776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£413m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835640" y="39776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355080" y="46177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BEDE6"/>
          </a:solidFill>
          <a:ln w="9525">
            <a:solidFill>
              <a:srgbClr val="D6E5CB"/>
            </a:solidFill>
            <a:prstDash val="solid"/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1" name="Text 28"/>
          <p:cNvSpPr/>
          <p:nvPr/>
        </p:nvSpPr>
        <p:spPr>
          <a:xfrm>
            <a:off x="6537960" y="47365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worth naming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37960" y="501091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largest holders are ~61% of all interest balances. One of them leaving moves the total more than a month of new adopters does.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0080" y="56875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holdings driven off the customer forecast (holders x balance per holder), not extrapolated directly. Growth on existing balances is damped from the 54%/42%/16% launch ramp, and new joiners are added at their observed smaller size (median first deposit fell from ~£1,000 to ~£400).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I would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96112" y="1837944"/>
            <a:ext cx="457200" cy="457200"/>
          </a:xfrm>
          <a:prstGeom prst="ellipse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9611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8196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Assets conversion on the funded 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DD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Signups are the wrong denominator: 41% of them can never convert. Funding a balance is a separate growth problem that owns the larger loss.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473952" y="1837944"/>
            <a:ext cx="457200" cy="457200"/>
          </a:xfrm>
          <a:prstGeom prst="ellipse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47395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18196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the Assets prompt on balance behaviour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86600" y="2331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DD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a customer tops up, sets a direct debit, or crosses £1k in cash is the highest-probability moment. Direct debit users convert at 2.1x.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896112" y="3712464"/>
            <a:ext cx="457200" cy="457200"/>
          </a:xfrm>
          <a:prstGeom prst="ellipse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89611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6941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marketing Assets on the send-money journey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08760" y="42062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DD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one product negatively associated with investing, and it is the largest share of traffic. That spend is better placed elsewhere.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1F4A05"/>
          </a:solidFill>
          <a:ln w="12700">
            <a:solidFill>
              <a:srgbClr val="2E620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6473952" y="3712464"/>
            <a:ext cx="457200" cy="457200"/>
          </a:xfrm>
          <a:prstGeom prst="ellipse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47395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36941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interest concentration as a retention priority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86600" y="42062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DD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customers hold 61% of the interest book. Protecting them is worth more than a month of new adopters.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504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cannot see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7790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profiles created Jan-Jun 2023 are in the data, so every population figure understates the true total, as pre-2023 customers are absent entirely.  ·  225 converters is a small base; cuts below ~50 customers are directional only.  ·  The three data tables end in different months, so each question is forecast 12 months from its own latest month.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100" b="1" spc="2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AND TOOLS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65836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400"/>
              </a:lnSpc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analysis, three tools, the same numbers</a:t>
            </a:r>
          </a:p>
        </p:txBody>
      </p:sp>
      <p:sp>
        <p:nvSpPr>
          <p:cNvPr id="4" name="Card 4"/>
          <p:cNvSpPr/>
          <p:nvPr/>
        </p:nvSpPr>
        <p:spPr>
          <a:xfrm>
            <a:off x="640080" y="1828800"/>
            <a:ext cx="3200400" cy="2743200"/>
          </a:xfrm>
          <a:prstGeom prst="roundRect">
            <a:avLst>
              <a:gd name="adj" fmla="val 8000"/>
            </a:avLst>
          </a:prstGeom>
          <a:solidFill>
            <a:srgbClr val="EFF7E9"/>
          </a:solidFill>
          <a:ln w="9525">
            <a:solidFill>
              <a:srgbClr val="D6E5CB"/>
            </a:solidFill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Badge 5"/>
          <p:cNvSpPr/>
          <p:nvPr/>
        </p:nvSpPr>
        <p:spPr>
          <a:xfrm>
            <a:off x="822960" y="2011680"/>
            <a:ext cx="365760" cy="365760"/>
          </a:xfrm>
          <a:prstGeom prst="ellipse">
            <a:avLst/>
          </a:prstGeom>
          <a:solidFill>
            <a:srgbClr val="9FE870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280160" y="19933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8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3F7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check and model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22960" y="2834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the raw data and ran 13 import checks before any analysis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the funnel, drivers and cohort triangle in SQL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CTEs (incl. recursive), window functions and views feed Power BI</a:t>
            </a:r>
          </a:p>
        </p:txBody>
      </p:sp>
      <p:sp>
        <p:nvSpPr>
          <p:cNvPr id="9" name="Arrow 9"/>
          <p:cNvSpPr/>
          <p:nvPr/>
        </p:nvSpPr>
        <p:spPr>
          <a:xfrm>
            <a:off x="4067556" y="3108960"/>
            <a:ext cx="201168" cy="182880"/>
          </a:xfrm>
          <a:prstGeom prst="rightArrow">
            <a:avLst/>
          </a:prstGeom>
          <a:solidFill>
            <a:srgbClr val="3F7D2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Card 10"/>
          <p:cNvSpPr/>
          <p:nvPr/>
        </p:nvSpPr>
        <p:spPr>
          <a:xfrm>
            <a:off x="4495800" y="1828800"/>
            <a:ext cx="3200400" cy="2743200"/>
          </a:xfrm>
          <a:prstGeom prst="roundRect">
            <a:avLst>
              <a:gd name="adj" fmla="val 8000"/>
            </a:avLst>
          </a:prstGeom>
          <a:solidFill>
            <a:srgbClr val="EFF7E9"/>
          </a:solidFill>
          <a:ln w="9525">
            <a:solidFill>
              <a:srgbClr val="D6E5CB"/>
            </a:solidFill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Badge 11"/>
          <p:cNvSpPr/>
          <p:nvPr/>
        </p:nvSpPr>
        <p:spPr>
          <a:xfrm>
            <a:off x="4678680" y="2011680"/>
            <a:ext cx="365760" cy="365760"/>
          </a:xfrm>
          <a:prstGeom prst="ellipse">
            <a:avLst/>
          </a:prstGeom>
          <a:solidFill>
            <a:srgbClr val="9FE870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135880" y="19933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8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6786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3F7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model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678680" y="2834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Chain-ladder on the cohort triangle, with three scenarios for the tail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 = holders x balance per holder, scaled x38 to the full base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forecast tables exposed for Power BI</a:t>
            </a:r>
          </a:p>
        </p:txBody>
      </p:sp>
      <p:sp>
        <p:nvSpPr>
          <p:cNvPr id="15" name="Arrow 15"/>
          <p:cNvSpPr/>
          <p:nvPr/>
        </p:nvSpPr>
        <p:spPr>
          <a:xfrm>
            <a:off x="7923276" y="3108960"/>
            <a:ext cx="201168" cy="182880"/>
          </a:xfrm>
          <a:prstGeom prst="rightArrow">
            <a:avLst/>
          </a:prstGeom>
          <a:solidFill>
            <a:srgbClr val="3F7D2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6"/>
          <p:cNvSpPr/>
          <p:nvPr/>
        </p:nvSpPr>
        <p:spPr>
          <a:xfrm>
            <a:off x="8351520" y="1828800"/>
            <a:ext cx="3200400" cy="2743200"/>
          </a:xfrm>
          <a:prstGeom prst="roundRect">
            <a:avLst>
              <a:gd name="adj" fmla="val 8000"/>
            </a:avLst>
          </a:prstGeom>
          <a:solidFill>
            <a:srgbClr val="EFF7E9"/>
          </a:solidFill>
          <a:ln w="9525">
            <a:solidFill>
              <a:srgbClr val="D6E5CB"/>
            </a:solidFill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Badge 17"/>
          <p:cNvSpPr/>
          <p:nvPr/>
        </p:nvSpPr>
        <p:spPr>
          <a:xfrm>
            <a:off x="8534400" y="2011680"/>
            <a:ext cx="365760" cy="365760"/>
          </a:xfrm>
          <a:prstGeom prst="ellipse">
            <a:avLst/>
          </a:prstGeom>
          <a:solidFill>
            <a:srgbClr val="9FE870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991600" y="19933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8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53440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3F7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534400" y="2834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pages: adoption, who invests, 12-month forecast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DAX measures, a gradient-formatted cohort heatmap and a custom theme</a:t>
            </a:r>
          </a:p>
          <a:p>
            <a:pPr marL="171450" indent="-171450" algn="l">
              <a:spcAft>
                <a:spcPts val="900"/>
              </a:spcAft>
              <a:buFont typeface="Arial"/>
              <a:buChar char="•"/>
            </a:pPr>
            <a:r>
              <a:rPr lang="en-GB" sz="1200" dirty="0">
                <a:solidFill>
                  <a:srgbClr val="2A3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slider on new-investor growth updates every forecast</a:t>
            </a:r>
          </a:p>
        </p:txBody>
      </p:sp>
      <p:sp>
        <p:nvSpPr>
          <p:cNvPr id="21" name="Card 21"/>
          <p:cNvSpPr/>
          <p:nvPr/>
        </p:nvSpPr>
        <p:spPr>
          <a:xfrm>
            <a:off x="640080" y="4892040"/>
            <a:ext cx="10911840" cy="594360"/>
          </a:xfrm>
          <a:prstGeom prst="roundRect">
            <a:avLst>
              <a:gd name="adj" fmla="val 8000"/>
            </a:avLst>
          </a:prstGeom>
          <a:solidFill>
            <a:srgbClr val="163300"/>
          </a:solidFill>
          <a:ln w="9525">
            <a:solidFill>
              <a:srgbClr val="163300"/>
            </a:solidFill>
          </a:ln>
          <a:effectLst>
            <a:outerShdw blurRad="101600" dist="12700" dir="5400000" algn="bl" rotWithShape="0">
              <a:srgbClr val="1633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2"/>
          <p:cNvSpPr txBox="1"/>
          <p:nvPr/>
        </p:nvSpPr>
        <p:spPr>
          <a:xfrm>
            <a:off x="868680" y="4892040"/>
            <a:ext cx="1045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 across all three:  </a:t>
            </a:r>
            <a:r>
              <a:rPr lang="en-GB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/ 5,879 / 225  ·  2.25% and 3.83%  ·  direct debit 8.09%  ·  Jan vs Jun cohort at month 7: 1.33% vs 2.80%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40080" y="5577840"/>
            <a:ext cx="1091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100" i="1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workbook and dashboard: github.com/frostovandrey/wise-assets-analysis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100" b="1" spc="2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65836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400"/>
              </a:lnSpc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as a three-page dashboard</a:t>
            </a:r>
          </a:p>
        </p:txBody>
      </p:sp>
      <p:pic>
        <p:nvPicPr>
          <p:cNvPr id="4" name="Overview page" descr="Overview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7230514" cy="4067846"/>
          </a:xfrm>
          <a:prstGeom prst="rect">
            <a:avLst/>
          </a:prstGeom>
          <a:ln w="9525">
            <a:solidFill>
              <a:srgbClr val="D6E5CB"/>
            </a:solidFill>
          </a:ln>
          <a:effectLst>
            <a:outerShdw blurRad="101600" dist="12700" dir="5400000" algn="bl" rotWithShape="0">
              <a:srgbClr val="163300">
                <a:alpha val="12000"/>
              </a:srgbClr>
            </a:outerShdw>
          </a:effectLst>
        </p:spPr>
      </p:pic>
      <p:pic>
        <p:nvPicPr>
          <p:cNvPr id="5" name="Who invests page" descr="Who invests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194" y="1737360"/>
            <a:ext cx="3452724" cy="1942483"/>
          </a:xfrm>
          <a:prstGeom prst="rect">
            <a:avLst/>
          </a:prstGeom>
          <a:ln w="9525">
            <a:solidFill>
              <a:srgbClr val="D6E5CB"/>
            </a:solidFill>
          </a:ln>
          <a:effectLst>
            <a:outerShdw blurRad="101600" dist="12700" dir="5400000" algn="bl" rotWithShape="0">
              <a:srgbClr val="163300">
                <a:alpha val="12000"/>
              </a:srgbClr>
            </a:outerShdw>
          </a:effectLst>
        </p:spPr>
      </p:pic>
      <p:pic>
        <p:nvPicPr>
          <p:cNvPr id="6" name="Forecast page" descr="Forecast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194" y="3862723"/>
            <a:ext cx="3452724" cy="1942483"/>
          </a:xfrm>
          <a:prstGeom prst="rect">
            <a:avLst/>
          </a:prstGeom>
          <a:ln w="9525">
            <a:solidFill>
              <a:srgbClr val="D6E5CB"/>
            </a:solidFill>
          </a:ln>
          <a:effectLst>
            <a:outerShdw blurRad="101600" dist="12700" dir="5400000" algn="bl" rotWithShape="0">
              <a:srgbClr val="163300">
                <a:alpha val="12000"/>
              </a:srgbClr>
            </a:outerShdw>
          </a:effectLst>
        </p:spPr>
      </p:pic>
      <p:sp>
        <p:nvSpPr>
          <p:cNvPr id="7" name="Text 7"/>
          <p:cNvSpPr txBox="1"/>
          <p:nvPr/>
        </p:nvSpPr>
        <p:spPr>
          <a:xfrm>
            <a:off x="640080" y="5942366"/>
            <a:ext cx="7230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1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adoption: </a:t>
            </a:r>
            <a:r>
              <a:rPr lang="en-GB" sz="110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funnel, conversion by signup month, Business vs Personal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099194" y="5942366"/>
            <a:ext cx="3452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1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invests </a:t>
            </a:r>
            <a:r>
              <a:rPr lang="en-GB" sz="110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(top) and </a:t>
            </a:r>
            <a:r>
              <a:rPr lang="en-GB" sz="1100" b="1" dirty="0">
                <a:solidFill>
                  <a:srgbClr val="1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forecast </a:t>
            </a:r>
            <a:r>
              <a:rPr lang="en-GB" sz="1100" dirty="0">
                <a:solidFill>
                  <a:srgbClr val="6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(bottom)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1063</Words>
  <Application>Microsoft Office PowerPoint</Application>
  <PresentationFormat>Widescreen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andriimorozov@kpmg.ua;Frostov</dc:creator>
  <cp:lastModifiedBy>Morozov, Andrii</cp:lastModifiedBy>
  <cp:revision>2</cp:revision>
  <dcterms:created xsi:type="dcterms:W3CDTF">2026-08-03T17:16:23Z</dcterms:created>
  <dcterms:modified xsi:type="dcterms:W3CDTF">2026-08-03T17:21:49Z</dcterms:modified>
</cp:coreProperties>
</file>