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png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  <p:sldId id="263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  <Relationship Id="rId13" Type="http://schemas.openxmlformats.org/officeDocument/2006/relationships/slide" Target="slides/slide7.xml"/>
  <Relationship Id="rId14" Type="http://schemas.openxmlformats.org/officeDocument/2006/relationships/slide" Target="slides/slide8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3300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3300"/>
                </a:solidFill>
                <a:latin typeface="Arial"/>
              </a:rPr>
              <a:t>Conversion rises with product depth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 rate</c:v>
                </c:pt>
              </c:strCache>
            </c:strRef>
          </c:tx>
          <c:spPr>
            <a:solidFill>
              <a:srgbClr val="5E9B2E"/>
            </a:solidFill>
            <a:effectLst/>
          </c:spPr>
          <c:invertIfNegative val="0"/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E1F00"/>
                    </a:solidFill>
                    <a:latin typeface="Arial"/>
                  </a:defRPr>
                </a:pPr>
                <a:endParaRPr lang="LID4096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 product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 products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2.5999999999999999E-3</c:v>
                </c:pt>
                <c:pt idx="1">
                  <c:v>2.4500000000000001E-2</c:v>
                </c:pt>
                <c:pt idx="2">
                  <c:v>6.0299999999999999E-2</c:v>
                </c:pt>
                <c:pt idx="3">
                  <c:v>5.8500000000000003E-2</c:v>
                </c:pt>
                <c:pt idx="4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43-41B7-AD71-2A232377DE7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4000000000000001"/>
          <c:min val="0"/>
        </c:scaling>
        <c:delete val="0"/>
        <c:axPos val="l"/>
        <c:majorGridlines>
          <c:spPr>
            <a:ln w="9525" cap="flat">
              <a:solidFill>
                <a:srgbClr val="E8E8E8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6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3300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63300"/>
                </a:solidFill>
                <a:latin typeface="Arial"/>
              </a:rPr>
              <a:t>Assets customers in the sampled cohort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 w="38100" cap="flat">
              <a:solidFill>
                <a:srgbClr val="163300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Jan-23</c:v>
                </c:pt>
                <c:pt idx="1">
                  <c:v>Mar-23</c:v>
                </c:pt>
                <c:pt idx="2">
                  <c:v>May-23</c:v>
                </c:pt>
                <c:pt idx="3">
                  <c:v>Jul-23</c:v>
                </c:pt>
                <c:pt idx="4">
                  <c:v>Sep-23</c:v>
                </c:pt>
                <c:pt idx="5">
                  <c:v>Nov-23</c:v>
                </c:pt>
                <c:pt idx="6">
                  <c:v>Jan-24</c:v>
                </c:pt>
                <c:pt idx="7">
                  <c:v>Mar-24</c:v>
                </c:pt>
                <c:pt idx="8">
                  <c:v>May-24</c:v>
                </c:pt>
                <c:pt idx="9">
                  <c:v>Jul-24</c:v>
                </c:pt>
                <c:pt idx="10">
                  <c:v>Sep-24</c:v>
                </c:pt>
                <c:pt idx="11">
                  <c:v>Nov-24</c:v>
                </c:pt>
                <c:pt idx="12">
                  <c:v>Jan-25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11</c:v>
                </c:pt>
                <c:pt idx="1">
                  <c:v>29</c:v>
                </c:pt>
                <c:pt idx="2">
                  <c:v>60</c:v>
                </c:pt>
                <c:pt idx="3">
                  <c:v>127</c:v>
                </c:pt>
                <c:pt idx="4">
                  <c:v>180</c:v>
                </c:pt>
                <c:pt idx="5">
                  <c:v>200</c:v>
                </c:pt>
                <c:pt idx="6">
                  <c:v>225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9D7-4B72-90E0-AFA4E11E56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 (base)</c:v>
                </c:pt>
              </c:strCache>
            </c:strRef>
          </c:tx>
          <c:spPr>
            <a:ln w="38100" cap="flat">
              <a:solidFill>
                <a:srgbClr val="5E9B2E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Jan-23</c:v>
                </c:pt>
                <c:pt idx="1">
                  <c:v>Mar-23</c:v>
                </c:pt>
                <c:pt idx="2">
                  <c:v>May-23</c:v>
                </c:pt>
                <c:pt idx="3">
                  <c:v>Jul-23</c:v>
                </c:pt>
                <c:pt idx="4">
                  <c:v>Sep-23</c:v>
                </c:pt>
                <c:pt idx="5">
                  <c:v>Nov-23</c:v>
                </c:pt>
                <c:pt idx="6">
                  <c:v>Jan-24</c:v>
                </c:pt>
                <c:pt idx="7">
                  <c:v>Mar-24</c:v>
                </c:pt>
                <c:pt idx="8">
                  <c:v>May-24</c:v>
                </c:pt>
                <c:pt idx="9">
                  <c:v>Jul-24</c:v>
                </c:pt>
                <c:pt idx="10">
                  <c:v>Sep-24</c:v>
                </c:pt>
                <c:pt idx="11">
                  <c:v>Nov-24</c:v>
                </c:pt>
                <c:pt idx="12">
                  <c:v>Jan-25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6">
                  <c:v>225</c:v>
                </c:pt>
                <c:pt idx="7">
                  <c:v>253</c:v>
                </c:pt>
                <c:pt idx="8">
                  <c:v>282</c:v>
                </c:pt>
                <c:pt idx="9">
                  <c:v>310</c:v>
                </c:pt>
                <c:pt idx="10">
                  <c:v>334</c:v>
                </c:pt>
                <c:pt idx="11">
                  <c:v>355</c:v>
                </c:pt>
                <c:pt idx="12">
                  <c:v>373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9D7-4B72-90E0-AFA4E11E56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2700000"/>
          <a:lstStyle/>
          <a:p>
            <a:pPr>
              <a:defRPr sz="850" b="0" i="0" u="none" strike="noStrike">
                <a:solidFill>
                  <a:srgbClr val="6B7A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6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B7A63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3300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63300"/>
                </a:solidFill>
                <a:latin typeface="Arial"/>
              </a:rPr>
              <a:t>Holdings by asset, sample level (£m)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</c:v>
                </c:pt>
              </c:strCache>
            </c:strRef>
          </c:tx>
          <c:spPr>
            <a:solidFill>
              <a:srgbClr val="C9DFB8"/>
            </a:solidFill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Jun-23 actual</c:v>
                </c:pt>
                <c:pt idx="1">
                  <c:v>Jun-24 forecast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5.5</c:v>
                </c:pt>
                <c:pt idx="1">
                  <c:v>6.76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738-4503-B4F0-3A9703A5618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Interest</c:v>
                </c:pt>
              </c:strCache>
            </c:strRef>
          </c:tx>
          <c:spPr>
            <a:solidFill>
              <a:srgbClr val="3C7A12"/>
            </a:solidFill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Jun-23 actual</c:v>
                </c:pt>
                <c:pt idx="1">
                  <c:v>Jun-24 forecast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1.25</c:v>
                </c:pt>
                <c:pt idx="1">
                  <c:v>4.05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738-4503-B4F0-3A9703A5618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Equity</c:v>
                </c:pt>
              </c:strCache>
            </c:strRef>
          </c:tx>
          <c:spPr>
            <a:solidFill>
              <a:srgbClr val="9FE870"/>
            </a:solidFill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Jun-23 actual</c:v>
                </c:pt>
                <c:pt idx="1">
                  <c:v>Jun-24 forecast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1.9E-2</c:v>
                </c:pt>
                <c:pt idx="1">
                  <c:v>5.7000000000000002E-2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738-4503-B4F0-3A9703A561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6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B7A63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515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Headline: conversion is 2.25% of all signups but 3.83% of customers who can actually invest. Adoption is accelerating despite what the raw monthly trend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ordering check is the important bit: I compared FIRST_ASSETS against every other FIRST_* timestamp. All 225 had funded a balance beforehand.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 debit does not cause investing. Both reflect a customer treating Wise as a primary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Range on the sampled cohort is 306 conservative to 463 optimistic, driven by how fast the tail growth fades.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Interest grew 177x in six months while equity grew 4.9x. Without damping, a naive extrapolation would be wildly inflated.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judgement calls worth defending: the tail-decay assumption in the customer forecast and the damping assumption in the holdings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Relationship Id="rId2" Type="http://schemas.openxmlformats.org/officeDocument/2006/relationships/image" Target="../media/dash1.png"/><Relationship Id="rId3" Type="http://schemas.openxmlformats.org/officeDocument/2006/relationships/image" Target="../media/dash2.png"/><Relationship Id="rId4" Type="http://schemas.openxmlformats.org/officeDocument/2006/relationships/image" Target="../media/dash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3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9FE87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 adoption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0299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E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well customers are adopting it, and what the next 12 months look like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25420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4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Andrii Morozov  |  Portfolio project  |  October 2026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3429000"/>
            <a:ext cx="2514600" cy="1691640"/>
          </a:xfrm>
          <a:prstGeom prst="roundRect">
            <a:avLst>
              <a:gd name="adj" fmla="val 5405"/>
            </a:avLst>
          </a:prstGeom>
          <a:solidFill>
            <a:srgbClr val="1F4A05"/>
          </a:solidFill>
          <a:ln w="12700">
            <a:solidFill>
              <a:srgbClr val="2E620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822960" y="363931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9FE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2.25%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22960" y="43159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to Assets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45902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3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all signups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3429000"/>
            <a:ext cx="2514600" cy="1691640"/>
          </a:xfrm>
          <a:prstGeom prst="roundRect">
            <a:avLst>
              <a:gd name="adj" fmla="val 5405"/>
            </a:avLst>
          </a:prstGeom>
          <a:solidFill>
            <a:srgbClr val="1F4A05"/>
          </a:solidFill>
          <a:ln w="12700">
            <a:solidFill>
              <a:srgbClr val="2E620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3611880" y="363931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9FE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3.83%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611880" y="43159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to Assets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11880" y="45902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3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customers who fund a balance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3429000"/>
            <a:ext cx="2514600" cy="1691640"/>
          </a:xfrm>
          <a:prstGeom prst="roundRect">
            <a:avLst>
              <a:gd name="adj" fmla="val 5405"/>
            </a:avLst>
          </a:prstGeom>
          <a:solidFill>
            <a:srgbClr val="1F4A05"/>
          </a:solidFill>
          <a:ln w="12700">
            <a:solidFill>
              <a:srgbClr val="2E620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6400800" y="363931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9FE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+66%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6400800" y="43159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Assets customers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45902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3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cohort, 12 months 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006840" y="3429000"/>
            <a:ext cx="2514600" cy="1691640"/>
          </a:xfrm>
          <a:prstGeom prst="roundRect">
            <a:avLst>
              <a:gd name="adj" fmla="val 5405"/>
            </a:avLst>
          </a:prstGeom>
          <a:solidFill>
            <a:srgbClr val="1F4A05"/>
          </a:solidFill>
          <a:ln w="12700">
            <a:solidFill>
              <a:srgbClr val="2E620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9189720" y="363931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9FE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£413m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9189720" y="43159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holdings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89720" y="45902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3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Jun-2024, all customers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56235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FA4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10,000 sampled profiles created Jan-Jun 2023  ·  225 of them invested  ·  Built with MySQL, Excel and Power BI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FE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FUNNEL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Conversion is 2.25%, but 3.83% is the number to manage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Funnel across all 10,000 sampled profiles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84832"/>
            <a:ext cx="3840480" cy="457200"/>
          </a:xfrm>
          <a:prstGeom prst="roundRect">
            <a:avLst>
              <a:gd name="adj" fmla="val 12000"/>
            </a:avLst>
          </a:prstGeom>
          <a:solidFill>
            <a:srgbClr val="9FE87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4617720" y="20848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created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20848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72200" y="208483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743200"/>
            <a:ext cx="3840480" cy="457200"/>
          </a:xfrm>
          <a:prstGeom prst="roundRect">
            <a:avLst>
              <a:gd name="adj" fmla="val 12000"/>
            </a:avLst>
          </a:prstGeom>
          <a:solidFill>
            <a:srgbClr val="9FE87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4617720" y="27432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 a first action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49808" y="2743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72200" y="27432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401568"/>
            <a:ext cx="2258202" cy="457200"/>
          </a:xfrm>
          <a:prstGeom prst="roundRect">
            <a:avLst>
              <a:gd name="adj" fmla="val 12000"/>
            </a:avLst>
          </a:prstGeom>
          <a:solidFill>
            <a:srgbClr val="5E9B2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4617720" y="34015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 a balance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3401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5,879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72200" y="3401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58.8%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059936"/>
            <a:ext cx="2258202" cy="457200"/>
          </a:xfrm>
          <a:prstGeom prst="roundRect">
            <a:avLst>
              <a:gd name="adj" fmla="val 12000"/>
            </a:avLst>
          </a:prstGeom>
          <a:solidFill>
            <a:srgbClr val="5E9B2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4617720" y="405993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Funded the balance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9808" y="405993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5,879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172200" y="405993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58.8%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718304"/>
            <a:ext cx="256032" cy="457200"/>
          </a:xfrm>
          <a:prstGeom prst="roundRect">
            <a:avLst>
              <a:gd name="adj" fmla="val 21429"/>
            </a:avLst>
          </a:prstGeom>
          <a:solidFill>
            <a:srgbClr val="16330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4617720" y="47183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Invested in Assets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5840" y="471830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172200" y="471830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2.25%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5468112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24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 never fund a balance and are structurally unable to invest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086600" y="1627632"/>
            <a:ext cx="4434840" cy="1874520"/>
          </a:xfrm>
          <a:prstGeom prst="roundRect">
            <a:avLst>
              <a:gd name="adj" fmla="val 3902"/>
            </a:avLst>
          </a:prstGeom>
          <a:solidFill>
            <a:srgbClr val="EFF7E9"/>
          </a:solidFill>
          <a:ln w="9525">
            <a:solidFill>
              <a:srgbClr val="D6E5CB"/>
            </a:solidFill>
            <a:prstDash val="solid"/>
          </a:ln>
          <a:effectLst>
            <a:outerShdw blurRad="101600" dist="12700" dir="5400000" algn="bl" rotWithShape="0">
              <a:srgbClr val="1633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7315200" y="178308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225 investors funded a balance first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315200" y="2121408"/>
            <a:ext cx="3977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most of them: every single one. Holding and funding a balance is a hard gate with zero exceptions in 225 cases. Everything else in the product is optional.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315200" y="30632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C7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measure conversion on the funded base, not on signups.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86600" y="3675888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225 investors had already done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086600" y="40416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 + funded a balance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372600" y="4123944"/>
            <a:ext cx="1600200" cy="182880"/>
          </a:xfrm>
          <a:prstGeom prst="roundRect">
            <a:avLst>
              <a:gd name="adj" fmla="val 25000"/>
            </a:avLst>
          </a:prstGeom>
          <a:solidFill>
            <a:srgbClr val="5E9B2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11018520" y="404164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086600" y="4462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account details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372600" y="4544568"/>
            <a:ext cx="944118" cy="182880"/>
          </a:xfrm>
          <a:prstGeom prst="roundRect">
            <a:avLst>
              <a:gd name="adj" fmla="val 25000"/>
            </a:avLst>
          </a:prstGeom>
          <a:solidFill>
            <a:srgbClr val="5E9B2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6" name="Text 34"/>
          <p:cNvSpPr/>
          <p:nvPr/>
        </p:nvSpPr>
        <p:spPr>
          <a:xfrm>
            <a:off x="11018520" y="446227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086600" y="48828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transaction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372600" y="4965192"/>
            <a:ext cx="816102" cy="182880"/>
          </a:xfrm>
          <a:prstGeom prst="roundRect">
            <a:avLst>
              <a:gd name="adj" fmla="val 25000"/>
            </a:avLst>
          </a:prstGeom>
          <a:solidFill>
            <a:srgbClr val="5E9B2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9" name="Text 37"/>
          <p:cNvSpPr/>
          <p:nvPr/>
        </p:nvSpPr>
        <p:spPr>
          <a:xfrm>
            <a:off x="11018520" y="4882896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086600" y="530352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 money abroad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9372600" y="5385816"/>
            <a:ext cx="192024" cy="182880"/>
          </a:xfrm>
          <a:prstGeom prst="roundRect">
            <a:avLst>
              <a:gd name="adj" fmla="val 25000"/>
            </a:avLst>
          </a:prstGeom>
          <a:solidFill>
            <a:srgbClr val="C24914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11018520" y="530352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086600" y="577900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Sending money abroad is almost irrelevant to Assets adoption.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FE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DRIVES CONVERSION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 is for money that stays, not money that moves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73736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0292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0.3% at one product  →  12.0% at five. A 46x spread.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629400" y="173736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signals that hold up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629400" y="2121408"/>
            <a:ext cx="4892040" cy="731520"/>
          </a:xfrm>
          <a:prstGeom prst="roundRect">
            <a:avLst>
              <a:gd name="adj" fmla="val 10000"/>
            </a:avLst>
          </a:prstGeom>
          <a:solidFill>
            <a:srgbClr val="EFF7E9"/>
          </a:solidFill>
          <a:ln w="9525">
            <a:solidFill>
              <a:srgbClr val="D6E5CB"/>
            </a:solidFill>
            <a:prstDash val="solid"/>
          </a:ln>
          <a:effectLst>
            <a:outerShdw blurRad="101600" dist="12700" dir="5400000" algn="bl" rotWithShape="0">
              <a:srgbClr val="1633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8" name="Text 5"/>
          <p:cNvSpPr/>
          <p:nvPr/>
        </p:nvSpPr>
        <p:spPr>
          <a:xfrm>
            <a:off x="6784848" y="2176272"/>
            <a:ext cx="1051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8.1%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882128" y="220370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debit users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882128" y="24505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3.8% funded average, the strongest single behavioural marker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629400" y="2990088"/>
            <a:ext cx="4892040" cy="731520"/>
          </a:xfrm>
          <a:prstGeom prst="roundRect">
            <a:avLst>
              <a:gd name="adj" fmla="val 10000"/>
            </a:avLst>
          </a:prstGeom>
          <a:solidFill>
            <a:srgbClr val="EFF7E9"/>
          </a:solidFill>
          <a:ln w="9525">
            <a:solidFill>
              <a:srgbClr val="D6E5CB"/>
            </a:solidFill>
            <a:prstDash val="solid"/>
          </a:ln>
          <a:effectLst>
            <a:outerShdw blurRad="101600" dist="12700" dir="5400000" algn="bl" rotWithShape="0">
              <a:srgbClr val="1633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2" name="Text 9"/>
          <p:cNvSpPr/>
          <p:nvPr/>
        </p:nvSpPr>
        <p:spPr>
          <a:xfrm>
            <a:off x="6784848" y="3044952"/>
            <a:ext cx="1051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7882128" y="307238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holding £10k+ cash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882128" y="331927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3.4% for customers who keep nothing at Wise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29400" y="3858768"/>
            <a:ext cx="4892040" cy="731520"/>
          </a:xfrm>
          <a:prstGeom prst="roundRect">
            <a:avLst>
              <a:gd name="adj" fmla="val 10000"/>
            </a:avLst>
          </a:prstGeom>
          <a:solidFill>
            <a:srgbClr val="EFF7E9"/>
          </a:solidFill>
          <a:ln w="9525">
            <a:solidFill>
              <a:srgbClr val="D6E5CB"/>
            </a:solidFill>
            <a:prstDash val="solid"/>
          </a:ln>
          <a:effectLst>
            <a:outerShdw blurRad="101600" dist="12700" dir="5400000" algn="bl" rotWithShape="0">
              <a:srgbClr val="1633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6" name="Text 13"/>
          <p:cNvSpPr/>
          <p:nvPr/>
        </p:nvSpPr>
        <p:spPr>
          <a:xfrm>
            <a:off x="6784848" y="3913632"/>
            <a:ext cx="1051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4.2%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7882128" y="394106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customers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882128" y="41879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only 1.2x once you control for funding, so mostly a funding effect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629400" y="4727448"/>
            <a:ext cx="4892040" cy="731520"/>
          </a:xfrm>
          <a:prstGeom prst="roundRect">
            <a:avLst>
              <a:gd name="adj" fmla="val 10000"/>
            </a:avLst>
          </a:prstGeom>
          <a:solidFill>
            <a:srgbClr val="FBEDE6"/>
          </a:solidFill>
          <a:ln w="9525">
            <a:solidFill>
              <a:srgbClr val="D6E5CB"/>
            </a:solidFill>
            <a:prstDash val="solid"/>
          </a:ln>
          <a:effectLst>
            <a:outerShdw blurRad="101600" dist="12700" dir="5400000" algn="bl" rotWithShape="0">
              <a:srgbClr val="1633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0" name="Text 17"/>
          <p:cNvSpPr/>
          <p:nvPr/>
        </p:nvSpPr>
        <p:spPr>
          <a:xfrm>
            <a:off x="6784848" y="4782312"/>
            <a:ext cx="1051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24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0.7%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7882128" y="48097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who send money abroad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882128" y="50566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product NEGATIVELY associated with investing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629400" y="565099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associations, not causal effects. The common thread: conversion tracks how far Wise is the customer's primary account.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FE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FORECAST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accelerating: the raw monthly trend hides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029200" cy="1508760"/>
          </a:xfrm>
          <a:prstGeom prst="roundRect">
            <a:avLst>
              <a:gd name="adj" fmla="val 4848"/>
            </a:avLst>
          </a:prstGeom>
          <a:solidFill>
            <a:srgbClr val="FBEDE6"/>
          </a:solidFill>
          <a:ln w="9525">
            <a:solidFill>
              <a:srgbClr val="D6E5CB"/>
            </a:solidFill>
            <a:prstDash val="solid"/>
          </a:ln>
          <a:effectLst>
            <a:outerShdw blurRad="101600" dist="12700" dir="5400000" algn="bl" rotWithShape="0">
              <a:srgbClr val="1633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841248" y="17739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4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2048256"/>
            <a:ext cx="4617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sign-ups peak in Jun-2023 then fall. But nobody joins this sample after Jun-2023, so the group is simply ageing. A falling line is what a fixed, ageing pool always looks like.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3310128"/>
            <a:ext cx="5029200" cy="1508760"/>
          </a:xfrm>
          <a:prstGeom prst="roundRect">
            <a:avLst>
              <a:gd name="adj" fmla="val 4848"/>
            </a:avLst>
          </a:prstGeom>
          <a:solidFill>
            <a:srgbClr val="EFF7E9"/>
          </a:solidFill>
          <a:ln w="9525">
            <a:solidFill>
              <a:srgbClr val="D6E5CB"/>
            </a:solidFill>
            <a:prstDash val="solid"/>
          </a:ln>
          <a:effectLst>
            <a:outerShdw blurRad="101600" dist="12700" dir="5400000" algn="bl" rotWithShape="0">
              <a:srgbClr val="1633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841248" y="343814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fix: compare cohorts at equal age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1248" y="3767328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7 months old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41248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1.33%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841248" y="444398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Jan-23 cohort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331720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88036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2.80%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880360" y="444398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Jun-23 cohort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34840" y="39319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5E9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2.1x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0080" y="49834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Method: chain-ladder on a cohort development triangle. Age-to-age growth factors taken from the observed data, tail decayed beyond month 12. Cross-check: the model implies 8-15 new investors a month through 2024 against 8-14 actually observed.</a:t>
            </a:r>
            <a:endParaRPr lang="en-US" sz="95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5989320" y="1645920"/>
          <a:ext cx="5577840" cy="3154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Text 15"/>
          <p:cNvSpPr/>
          <p:nvPr/>
        </p:nvSpPr>
        <p:spPr>
          <a:xfrm>
            <a:off x="9098280" y="49560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Jan-2024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104120" y="49560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Jan-2025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989320" y="5193792"/>
            <a:ext cx="5577840" cy="493776"/>
          </a:xfrm>
          <a:prstGeom prst="roundRect">
            <a:avLst>
              <a:gd name="adj" fmla="val 14815"/>
            </a:avLst>
          </a:prstGeom>
          <a:solidFill>
            <a:srgbClr val="EFF7E9"/>
          </a:solidFill>
          <a:ln w="9525">
            <a:solidFill>
              <a:srgbClr val="D6E5CB"/>
            </a:solidFill>
            <a:prstDash val="solid"/>
          </a:ln>
          <a:effectLst>
            <a:outerShdw blurRad="101600" dist="12700" dir="5400000" algn="bl" rotWithShape="0">
              <a:srgbClr val="1633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1" name="Text 18"/>
          <p:cNvSpPr/>
          <p:nvPr/>
        </p:nvSpPr>
        <p:spPr>
          <a:xfrm>
            <a:off x="6144768" y="5193792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Sampled cohort (10,000 profiles)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098280" y="5193792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0104120" y="5193792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018520" y="5193792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9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+66%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989320" y="5760720"/>
            <a:ext cx="5577840" cy="493776"/>
          </a:xfrm>
          <a:prstGeom prst="roundRect">
            <a:avLst>
              <a:gd name="adj" fmla="val 14815"/>
            </a:avLst>
          </a:prstGeom>
          <a:solidFill>
            <a:srgbClr val="EFF7E9"/>
          </a:solidFill>
          <a:ln w="9525">
            <a:solidFill>
              <a:srgbClr val="D6E5CB"/>
            </a:solidFill>
            <a:prstDash val="solid"/>
          </a:ln>
          <a:effectLst>
            <a:outerShdw blurRad="101600" dist="12700" dir="5400000" algn="bl" rotWithShape="0">
              <a:srgbClr val="1633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6" name="Text 23"/>
          <p:cNvSpPr/>
          <p:nvPr/>
        </p:nvSpPr>
        <p:spPr>
          <a:xfrm>
            <a:off x="6144768" y="576072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customer base, 2023 vintages on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9098280" y="576072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17.7k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0104120" y="576072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52.7k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1018520" y="5760720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9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3.0x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FE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HOLDINGS FORECAST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 is an interest business, and a concentrated one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737360"/>
          <a:ext cx="539496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10235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 £5.50m → £6.76m      Interest  £1.25m → £4.05m      Equity  £19k → £57k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534009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 move from 19% to 38% of everything customers hold.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355080" y="1719072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Scaled to the whole customer base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549640" y="2066544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Jun-2023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9692640" y="2066544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Jun-2024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355080" y="2331720"/>
            <a:ext cx="5166360" cy="475488"/>
          </a:xfrm>
          <a:prstGeom prst="roundRect">
            <a:avLst>
              <a:gd name="adj" fmla="val 15385"/>
            </a:avLst>
          </a:prstGeom>
          <a:solidFill>
            <a:srgbClr val="EFF7E9"/>
          </a:solidFill>
          <a:ln w="9525">
            <a:solidFill>
              <a:srgbClr val="D6E5CB"/>
            </a:solidFill>
            <a:prstDash val="solid"/>
          </a:ln>
          <a:effectLst>
            <a:outerShdw blurRad="101600" dist="12700" dir="5400000" algn="bl" rotWithShape="0">
              <a:srgbClr val="1633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1" name="Text 8"/>
          <p:cNvSpPr/>
          <p:nvPr/>
        </p:nvSpPr>
        <p:spPr>
          <a:xfrm>
            <a:off x="6537960" y="233172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549640" y="2331720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£47.7m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692640" y="2331720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£154m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835640" y="233172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9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3.2x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355080" y="2880360"/>
            <a:ext cx="5166360" cy="475488"/>
          </a:xfrm>
          <a:prstGeom prst="roundRect">
            <a:avLst>
              <a:gd name="adj" fmla="val 15385"/>
            </a:avLst>
          </a:prstGeom>
          <a:solidFill>
            <a:srgbClr val="EFF7E9"/>
          </a:solidFill>
          <a:ln w="9525">
            <a:solidFill>
              <a:srgbClr val="D6E5CB"/>
            </a:solidFill>
            <a:prstDash val="solid"/>
          </a:ln>
          <a:effectLst>
            <a:outerShdw blurRad="101600" dist="12700" dir="5400000" algn="bl" rotWithShape="0">
              <a:srgbClr val="1633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16" name="Text 13"/>
          <p:cNvSpPr/>
          <p:nvPr/>
        </p:nvSpPr>
        <p:spPr>
          <a:xfrm>
            <a:off x="6537960" y="288036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549640" y="2880360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£0.7m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9692640" y="2880360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£2.2m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835640" y="288036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9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3.1x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355080" y="3429000"/>
            <a:ext cx="5166360" cy="475488"/>
          </a:xfrm>
          <a:prstGeom prst="roundRect">
            <a:avLst>
              <a:gd name="adj" fmla="val 15385"/>
            </a:avLst>
          </a:prstGeom>
          <a:solidFill>
            <a:srgbClr val="EFF7E9"/>
          </a:solidFill>
          <a:ln w="9525">
            <a:solidFill>
              <a:srgbClr val="D6E5CB"/>
            </a:solidFill>
            <a:prstDash val="solid"/>
          </a:ln>
          <a:effectLst>
            <a:outerShdw blurRad="101600" dist="12700" dir="5400000" algn="bl" rotWithShape="0">
              <a:srgbClr val="1633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1" name="Text 18"/>
          <p:cNvSpPr/>
          <p:nvPr/>
        </p:nvSpPr>
        <p:spPr>
          <a:xfrm>
            <a:off x="6537960" y="342900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549640" y="3429000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£209m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692640" y="3429000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£257m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835640" y="342900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9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1.2x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355080" y="3977640"/>
            <a:ext cx="5166360" cy="475488"/>
          </a:xfrm>
          <a:prstGeom prst="roundRect">
            <a:avLst>
              <a:gd name="adj" fmla="val 15385"/>
            </a:avLst>
          </a:prstGeom>
          <a:solidFill>
            <a:srgbClr val="DDEECF"/>
          </a:solidFill>
          <a:ln w="9525">
            <a:solidFill>
              <a:srgbClr val="D6E5CB"/>
            </a:solidFill>
            <a:prstDash val="solid"/>
          </a:ln>
          <a:effectLst>
            <a:outerShdw blurRad="101600" dist="12700" dir="5400000" algn="bl" rotWithShape="0">
              <a:srgbClr val="1633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26" name="Text 23"/>
          <p:cNvSpPr/>
          <p:nvPr/>
        </p:nvSpPr>
        <p:spPr>
          <a:xfrm>
            <a:off x="6537960" y="397764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holdings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549640" y="3977640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£258m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9692640" y="3977640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£413m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0835640" y="397764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E9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1.6x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355080" y="4617720"/>
            <a:ext cx="5166360" cy="1371600"/>
          </a:xfrm>
          <a:prstGeom prst="roundRect">
            <a:avLst>
              <a:gd name="adj" fmla="val 5333"/>
            </a:avLst>
          </a:prstGeom>
          <a:solidFill>
            <a:srgbClr val="FBEDE6"/>
          </a:solidFill>
          <a:ln w="9525">
            <a:solidFill>
              <a:srgbClr val="D6E5CB"/>
            </a:solidFill>
            <a:prstDash val="solid"/>
          </a:ln>
          <a:effectLst>
            <a:outerShdw blurRad="101600" dist="12700" dir="5400000" algn="bl" rotWithShape="0">
              <a:srgbClr val="163300">
                <a:alpha val="10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31" name="Text 28"/>
          <p:cNvSpPr/>
          <p:nvPr/>
        </p:nvSpPr>
        <p:spPr>
          <a:xfrm>
            <a:off x="6537960" y="4736592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4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risk worth naming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537960" y="501091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0E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five largest holders are ~61% of all interest balances. One of them leaving moves the total more than a month of new adopters does.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640080" y="5687568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Method: holdings driven off the customer forecast (holders x balance per holder), not extrapolated directly. Growth on existing balances is damped from the 54%/42%/16% launch ramp, and new joiners are added at their observed smaller size (median first deposit fell from ~£1,000 to ~£400).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33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things I would change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12080" cy="1600200"/>
          </a:xfrm>
          <a:prstGeom prst="roundRect">
            <a:avLst>
              <a:gd name="adj" fmla="val 5714"/>
            </a:avLst>
          </a:prstGeom>
          <a:solidFill>
            <a:srgbClr val="1F4A05"/>
          </a:solidFill>
          <a:ln w="12700">
            <a:solidFill>
              <a:srgbClr val="2E620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96112" y="1837944"/>
            <a:ext cx="457200" cy="457200"/>
          </a:xfrm>
          <a:prstGeom prst="ellipse">
            <a:avLst/>
          </a:prstGeom>
          <a:solidFill>
            <a:srgbClr val="9FE87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96112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08760" y="181965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Assets conversion on the funded base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508760" y="23317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BDD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Signups are the wrong denominator: 41% of them can never convert. Funding a balance is a separate growth problem that owns the larger loss.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212080" cy="1600200"/>
          </a:xfrm>
          <a:prstGeom prst="roundRect">
            <a:avLst>
              <a:gd name="adj" fmla="val 5714"/>
            </a:avLst>
          </a:prstGeom>
          <a:solidFill>
            <a:srgbClr val="1F4A05"/>
          </a:solidFill>
          <a:ln w="12700">
            <a:solidFill>
              <a:srgbClr val="2E620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Shape 8"/>
          <p:cNvSpPr/>
          <p:nvPr/>
        </p:nvSpPr>
        <p:spPr>
          <a:xfrm>
            <a:off x="6473952" y="1837944"/>
            <a:ext cx="457200" cy="457200"/>
          </a:xfrm>
          <a:prstGeom prst="ellipse">
            <a:avLst/>
          </a:prstGeom>
          <a:solidFill>
            <a:srgbClr val="9FE87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6473952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86600" y="181965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the Assets prompt on balance behaviour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086600" y="23317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BDD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moment a customer tops up, sets a direct debit, or crosses £1k in cash is the highest-probability moment. Direct debit users convert at 2.1x.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474720"/>
            <a:ext cx="5212080" cy="1600200"/>
          </a:xfrm>
          <a:prstGeom prst="roundRect">
            <a:avLst>
              <a:gd name="adj" fmla="val 5714"/>
            </a:avLst>
          </a:prstGeom>
          <a:solidFill>
            <a:srgbClr val="1F4A05"/>
          </a:solidFill>
          <a:ln w="12700">
            <a:solidFill>
              <a:srgbClr val="2E620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13"/>
          <p:cNvSpPr/>
          <p:nvPr/>
        </p:nvSpPr>
        <p:spPr>
          <a:xfrm>
            <a:off x="896112" y="3712464"/>
            <a:ext cx="457200" cy="457200"/>
          </a:xfrm>
          <a:prstGeom prst="ellipse">
            <a:avLst/>
          </a:prstGeom>
          <a:solidFill>
            <a:srgbClr val="9FE87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896112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508760" y="369417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marketing Assets on the send-money journey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508760" y="420624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BDD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one product negatively associated with investing, and it is the largest share of traffic. That spend is better placed elsewhere.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3474720"/>
            <a:ext cx="5212080" cy="1600200"/>
          </a:xfrm>
          <a:prstGeom prst="roundRect">
            <a:avLst>
              <a:gd name="adj" fmla="val 5714"/>
            </a:avLst>
          </a:prstGeom>
          <a:solidFill>
            <a:srgbClr val="1F4A05"/>
          </a:solidFill>
          <a:ln w="12700">
            <a:solidFill>
              <a:srgbClr val="2E620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Shape 18"/>
          <p:cNvSpPr/>
          <p:nvPr/>
        </p:nvSpPr>
        <p:spPr>
          <a:xfrm>
            <a:off x="6473952" y="3712464"/>
            <a:ext cx="457200" cy="457200"/>
          </a:xfrm>
          <a:prstGeom prst="ellipse">
            <a:avLst/>
          </a:prstGeom>
          <a:solidFill>
            <a:srgbClr val="9FE870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6473952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86600" y="369417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interest concentration as a retention priority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086600" y="420624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BDD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customers hold 61% of the interest book. Protecting them is worth more than a month of new adopters.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" y="550468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FE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analysis cannot see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577900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8FA4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profiles created Jan-Jun 2023 are in the data, so every population figure understates the true total, as pre-2023 customers are absent entirely.  ·  225 converters is a small base; cuts below ~50 customers are directional only.  ·  The three data tables end in different months, so each question is forecast 12 months from its own latest month.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GB" sz="1100" b="1" spc="200" dirty="0">
                <a:solidFill>
                  <a:srgbClr val="9FE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AND TOOLS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40080" y="658368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3400"/>
              </a:lnSpc>
              <a:spcAft>
                <a:spcPts val="0"/>
              </a:spcAft>
              <a:buNone/>
            </a:pPr>
            <a:r>
              <a:rPr lang="en-GB" sz="30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analysis, three tools, the same numbers</a:t>
            </a:r>
          </a:p>
        </p:txBody>
      </p:sp>
      <p:sp>
        <p:nvSpPr>
          <p:cNvPr id="4" name="Card 4"/>
          <p:cNvSpPr/>
          <p:nvPr/>
        </p:nvSpPr>
        <p:spPr>
          <a:xfrm>
            <a:off x="640080" y="1828800"/>
            <a:ext cx="3200400" cy="2743200"/>
          </a:xfrm>
          <a:prstGeom prst="roundRect">
            <a:avLst>
              <a:gd name="adj" fmla="val 8000"/>
            </a:avLst>
          </a:prstGeom>
          <a:solidFill>
            <a:srgbClr val="EFF7E9"/>
          </a:solidFill>
          <a:ln w="9525">
            <a:solidFill>
              <a:srgbClr val="D6E5CB"/>
            </a:solidFill>
          </a:ln>
          <a:effectLst>
            <a:outerShdw blurRad="101600" dist="12700" dir="5400000" algn="bl" rotWithShape="0">
              <a:srgbClr val="1633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Badge 5"/>
          <p:cNvSpPr/>
          <p:nvPr/>
        </p:nvSpPr>
        <p:spPr>
          <a:xfrm>
            <a:off x="822960" y="2011680"/>
            <a:ext cx="365760" cy="365760"/>
          </a:xfrm>
          <a:prstGeom prst="ellipse">
            <a:avLst/>
          </a:prstGeom>
          <a:solidFill>
            <a:srgbClr val="9FE870"/>
          </a:solidFill>
          <a:ln>
            <a:noFill/>
          </a:ln>
        </p:spPr>
        <p:txBody>
          <a:bodyPr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GB" sz="12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280160" y="199339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GB" sz="18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22960" y="2468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GB" sz="1200" b="1" dirty="0">
                <a:solidFill>
                  <a:srgbClr val="3F7D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Clean, check and model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22960" y="283464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spcAft>
                <a:spcPts val="900"/>
              </a:spcAft>
              <a:buFont typeface="Arial"/>
              <a:buChar char="•"/>
            </a:pPr>
            <a:r>
              <a:rPr lang="en-GB" sz="1200" dirty="0">
                <a:solidFill>
                  <a:srgbClr val="2A33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Loaded the raw data and ran 13 import checks before any analysis</a:t>
            </a:r>
          </a:p>
          <a:p>
            <a:pPr marL="171450" indent="-171450" algn="l">
              <a:spcAft>
                <a:spcPts val="900"/>
              </a:spcAft>
              <a:buFont typeface="Arial"/>
              <a:buChar char="•"/>
            </a:pPr>
            <a:r>
              <a:rPr lang="en-GB" sz="1200" dirty="0">
                <a:solidFill>
                  <a:srgbClr val="2A33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Rebuilt the funnel, drivers and cohort triangle in SQL</a:t>
            </a:r>
          </a:p>
          <a:p>
            <a:pPr marL="171450" indent="-171450" algn="l">
              <a:spcAft>
                <a:spcPts val="900"/>
              </a:spcAft>
              <a:buFont typeface="Arial"/>
              <a:buChar char="•"/>
            </a:pPr>
            <a:r>
              <a:rPr lang="en-GB" sz="1200" dirty="0">
                <a:solidFill>
                  <a:srgbClr val="2A33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CTEs (incl. recursive), window functions and views feed Power BI</a:t>
            </a:r>
          </a:p>
        </p:txBody>
      </p:sp>
      <p:sp>
        <p:nvSpPr>
          <p:cNvPr id="9" name="Arrow 9"/>
          <p:cNvSpPr/>
          <p:nvPr/>
        </p:nvSpPr>
        <p:spPr>
          <a:xfrm>
            <a:off x="4067556" y="3108960"/>
            <a:ext cx="201168" cy="182880"/>
          </a:xfrm>
          <a:prstGeom prst="rightArrow">
            <a:avLst/>
          </a:prstGeom>
          <a:solidFill>
            <a:srgbClr val="3F7D2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" name="Card 10"/>
          <p:cNvSpPr/>
          <p:nvPr/>
        </p:nvSpPr>
        <p:spPr>
          <a:xfrm>
            <a:off x="4495800" y="1828800"/>
            <a:ext cx="3200400" cy="2743200"/>
          </a:xfrm>
          <a:prstGeom prst="roundRect">
            <a:avLst>
              <a:gd name="adj" fmla="val 8000"/>
            </a:avLst>
          </a:prstGeom>
          <a:solidFill>
            <a:srgbClr val="EFF7E9"/>
          </a:solidFill>
          <a:ln w="9525">
            <a:solidFill>
              <a:srgbClr val="D6E5CB"/>
            </a:solidFill>
          </a:ln>
          <a:effectLst>
            <a:outerShdw blurRad="101600" dist="12700" dir="5400000" algn="bl" rotWithShape="0">
              <a:srgbClr val="1633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Badge 11"/>
          <p:cNvSpPr/>
          <p:nvPr/>
        </p:nvSpPr>
        <p:spPr>
          <a:xfrm>
            <a:off x="4678680" y="2011680"/>
            <a:ext cx="365760" cy="365760"/>
          </a:xfrm>
          <a:prstGeom prst="ellipse">
            <a:avLst/>
          </a:prstGeom>
          <a:solidFill>
            <a:srgbClr val="9FE870"/>
          </a:solidFill>
          <a:ln>
            <a:noFill/>
          </a:ln>
        </p:spPr>
        <p:txBody>
          <a:bodyPr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GB" sz="12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135880" y="199339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GB" sz="18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678680" y="2468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GB" sz="1200" b="1" dirty="0">
                <a:solidFill>
                  <a:srgbClr val="3F7D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model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4678680" y="283464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spcAft>
                <a:spcPts val="900"/>
              </a:spcAft>
              <a:buFont typeface="Arial"/>
              <a:buChar char="•"/>
            </a:pPr>
            <a:r>
              <a:rPr lang="en-GB" sz="1200" dirty="0">
                <a:solidFill>
                  <a:srgbClr val="2A33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Chain-ladder on the cohort triangle, with three scenarios for the tail</a:t>
            </a:r>
          </a:p>
          <a:p>
            <a:pPr marL="171450" indent="-171450" algn="l">
              <a:spcAft>
                <a:spcPts val="900"/>
              </a:spcAft>
              <a:buFont typeface="Arial"/>
              <a:buChar char="•"/>
            </a:pPr>
            <a:r>
              <a:rPr lang="en-GB" sz="1200" dirty="0">
                <a:solidFill>
                  <a:srgbClr val="2A33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Holdings = holders x balance per holder, scaled x38 to the full base</a:t>
            </a:r>
          </a:p>
          <a:p>
            <a:pPr marL="171450" indent="-171450" algn="l">
              <a:spcAft>
                <a:spcPts val="900"/>
              </a:spcAft>
              <a:buFont typeface="Arial"/>
              <a:buChar char="•"/>
            </a:pPr>
            <a:r>
              <a:rPr lang="en-GB" sz="1200" dirty="0">
                <a:solidFill>
                  <a:srgbClr val="2A33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Tidy forecast tables exposed for Power BI</a:t>
            </a:r>
          </a:p>
        </p:txBody>
      </p:sp>
      <p:sp>
        <p:nvSpPr>
          <p:cNvPr id="15" name="Arrow 15"/>
          <p:cNvSpPr/>
          <p:nvPr/>
        </p:nvSpPr>
        <p:spPr>
          <a:xfrm>
            <a:off x="7923276" y="3108960"/>
            <a:ext cx="201168" cy="182880"/>
          </a:xfrm>
          <a:prstGeom prst="rightArrow">
            <a:avLst/>
          </a:prstGeom>
          <a:solidFill>
            <a:srgbClr val="3F7D2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" name="Card 16"/>
          <p:cNvSpPr/>
          <p:nvPr/>
        </p:nvSpPr>
        <p:spPr>
          <a:xfrm>
            <a:off x="8351520" y="1828800"/>
            <a:ext cx="3200400" cy="2743200"/>
          </a:xfrm>
          <a:prstGeom prst="roundRect">
            <a:avLst>
              <a:gd name="adj" fmla="val 8000"/>
            </a:avLst>
          </a:prstGeom>
          <a:solidFill>
            <a:srgbClr val="EFF7E9"/>
          </a:solidFill>
          <a:ln w="9525">
            <a:solidFill>
              <a:srgbClr val="D6E5CB"/>
            </a:solidFill>
          </a:ln>
          <a:effectLst>
            <a:outerShdw blurRad="101600" dist="12700" dir="5400000" algn="bl" rotWithShape="0">
              <a:srgbClr val="1633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Badge 17"/>
          <p:cNvSpPr/>
          <p:nvPr/>
        </p:nvSpPr>
        <p:spPr>
          <a:xfrm>
            <a:off x="8534400" y="2011680"/>
            <a:ext cx="365760" cy="365760"/>
          </a:xfrm>
          <a:prstGeom prst="ellipse">
            <a:avLst/>
          </a:prstGeom>
          <a:solidFill>
            <a:srgbClr val="9FE870"/>
          </a:solidFill>
          <a:ln>
            <a:noFill/>
          </a:ln>
        </p:spPr>
        <p:txBody>
          <a:bodyPr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GB" sz="12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991600" y="199339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GB" sz="18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534400" y="2468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GB" sz="1200" b="1" dirty="0">
                <a:solidFill>
                  <a:srgbClr val="3F7D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dashboard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534400" y="283464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spcAft>
                <a:spcPts val="900"/>
              </a:spcAft>
              <a:buFont typeface="Arial"/>
              <a:buChar char="•"/>
            </a:pPr>
            <a:r>
              <a:rPr lang="en-GB" sz="1200" dirty="0">
                <a:solidFill>
                  <a:srgbClr val="2A33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pages: adoption, who invests, 12-month forecast</a:t>
            </a:r>
          </a:p>
          <a:p>
            <a:pPr marL="171450" indent="-171450" algn="l">
              <a:spcAft>
                <a:spcPts val="900"/>
              </a:spcAft>
              <a:buFont typeface="Arial"/>
              <a:buChar char="•"/>
            </a:pPr>
            <a:r>
              <a:rPr lang="en-GB" sz="1200" dirty="0">
                <a:solidFill>
                  <a:srgbClr val="2A33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DAX measures, a DAX-coloured cohort heatmap and a custom theme</a:t>
            </a:r>
          </a:p>
          <a:p>
            <a:pPr marL="171450" indent="-171450" algn="l">
              <a:spcAft>
                <a:spcPts val="900"/>
              </a:spcAft>
              <a:buFont typeface="Arial"/>
              <a:buChar char="•"/>
            </a:pPr>
            <a:r>
              <a:rPr lang="en-GB" sz="1200" dirty="0">
                <a:solidFill>
                  <a:srgbClr val="2A33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What-if slider on new-investor growth updates every forecast</a:t>
            </a:r>
          </a:p>
        </p:txBody>
      </p:sp>
      <p:sp>
        <p:nvSpPr>
          <p:cNvPr id="21" name="Card 21"/>
          <p:cNvSpPr/>
          <p:nvPr/>
        </p:nvSpPr>
        <p:spPr>
          <a:xfrm>
            <a:off x="640080" y="4892040"/>
            <a:ext cx="10911840" cy="594360"/>
          </a:xfrm>
          <a:prstGeom prst="roundRect">
            <a:avLst>
              <a:gd name="adj" fmla="val 8000"/>
            </a:avLst>
          </a:prstGeom>
          <a:solidFill>
            <a:srgbClr val="163300"/>
          </a:solidFill>
          <a:ln w="9525">
            <a:solidFill>
              <a:srgbClr val="163300"/>
            </a:solidFill>
          </a:ln>
          <a:effectLst>
            <a:outerShdw blurRad="101600" dist="12700" dir="5400000" algn="bl" rotWithShape="0">
              <a:srgbClr val="1633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Text 22"/>
          <p:cNvSpPr txBox="1"/>
          <p:nvPr/>
        </p:nvSpPr>
        <p:spPr>
          <a:xfrm>
            <a:off x="868680" y="4892040"/>
            <a:ext cx="1045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GB" sz="1200" b="1" dirty="0">
                <a:solidFill>
                  <a:srgbClr val="9FE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 across all three:  </a:t>
            </a:r>
            <a:r>
              <a:rPr lang="en-GB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/ 5,879 / 225  ·  2.25% and 3.83%  ·  direct debit 8.09%  ·  Jan vs Jun cohort at month 7: 1.33% vs 2.80%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640080" y="5577840"/>
            <a:ext cx="1091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GB" sz="1100" i="1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Code, workbook and dashboard: github.com/frostovandrey/wise-assets-analysis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4008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GB" sz="1100" b="1" spc="200" dirty="0">
                <a:solidFill>
                  <a:srgbClr val="9FE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DASHBOARD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40080" y="658368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3400"/>
              </a:lnSpc>
              <a:spcAft>
                <a:spcPts val="0"/>
              </a:spcAft>
              <a:buNone/>
            </a:pPr>
            <a:r>
              <a:rPr lang="en-GB" sz="30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analysis as a three-page dashboard</a:t>
            </a:r>
          </a:p>
        </p:txBody>
      </p:sp>
      <p:pic>
        <p:nvPicPr>
          <p:cNvPr id="4" name="Overview page" descr="Overview p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7230514" cy="4067846"/>
          </a:xfrm>
          <a:prstGeom prst="rect">
            <a:avLst/>
          </a:prstGeom>
          <a:ln w="9525">
            <a:solidFill>
              <a:srgbClr val="D6E5CB"/>
            </a:solidFill>
          </a:ln>
          <a:effectLst>
            <a:outerShdw blurRad="101600" dist="12700" dir="5400000" algn="bl" rotWithShape="0">
              <a:srgbClr val="163300">
                <a:alpha val="12000"/>
              </a:srgbClr>
            </a:outerShdw>
          </a:effectLst>
        </p:spPr>
      </p:pic>
      <p:pic>
        <p:nvPicPr>
          <p:cNvPr id="5" name="Who invests page" descr="Who invests p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9194" y="1737360"/>
            <a:ext cx="3452724" cy="1942483"/>
          </a:xfrm>
          <a:prstGeom prst="rect">
            <a:avLst/>
          </a:prstGeom>
          <a:ln w="9525">
            <a:solidFill>
              <a:srgbClr val="D6E5CB"/>
            </a:solidFill>
          </a:ln>
          <a:effectLst>
            <a:outerShdw blurRad="101600" dist="12700" dir="5400000" algn="bl" rotWithShape="0">
              <a:srgbClr val="163300">
                <a:alpha val="12000"/>
              </a:srgbClr>
            </a:outerShdw>
          </a:effectLst>
        </p:spPr>
      </p:pic>
      <p:pic>
        <p:nvPicPr>
          <p:cNvPr id="6" name="Forecast page" descr="Forecast p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9194" y="3862723"/>
            <a:ext cx="3452724" cy="1942483"/>
          </a:xfrm>
          <a:prstGeom prst="rect">
            <a:avLst/>
          </a:prstGeom>
          <a:ln w="9525">
            <a:solidFill>
              <a:srgbClr val="D6E5CB"/>
            </a:solidFill>
          </a:ln>
          <a:effectLst>
            <a:outerShdw blurRad="101600" dist="12700" dir="5400000" algn="bl" rotWithShape="0">
              <a:srgbClr val="163300">
                <a:alpha val="12000"/>
              </a:srgbClr>
            </a:outerShdw>
          </a:effectLst>
        </p:spPr>
      </p:pic>
      <p:sp>
        <p:nvSpPr>
          <p:cNvPr id="7" name="Text 7"/>
          <p:cNvSpPr txBox="1"/>
          <p:nvPr/>
        </p:nvSpPr>
        <p:spPr>
          <a:xfrm>
            <a:off x="640080" y="5942366"/>
            <a:ext cx="72305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GB" sz="11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adoption: </a:t>
            </a:r>
            <a:r>
              <a:rPr lang="en-GB" sz="1100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funnel, conversion by signup month, Business vs Personal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099194" y="5942366"/>
            <a:ext cx="34527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GB" sz="11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invests </a:t>
            </a:r>
            <a:r>
              <a:rPr lang="en-GB" sz="1100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(top) and </a:t>
            </a:r>
            <a:r>
              <a:rPr lang="en-GB" sz="1100" b="1" dirty="0">
                <a:solidFill>
                  <a:srgbClr val="1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12-month forecast </a:t>
            </a:r>
            <a:r>
              <a:rPr lang="en-GB" sz="1100" dirty="0">
                <a:solidFill>
                  <a:srgbClr val="6B7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(bottom)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5653b52-df9b-47d2-8549-8de78ac04e21}" enabled="1" method="Standard" siteId="{deff24bb-2089-4400-8c8e-f71e680378b2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1063</Words>
  <Application>Microsoft Office PowerPoint</Application>
  <PresentationFormat>Widescreen</PresentationFormat>
  <Paragraphs>145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andriimorozov@kpmg.ua;Frostov</dc:creator>
  <cp:lastModifiedBy>Morozov, Andrii</cp:lastModifiedBy>
  <cp:revision>2</cp:revision>
  <dcterms:created xsi:type="dcterms:W3CDTF">2026-08-03T17:16:23Z</dcterms:created>
  <dcterms:modified xsi:type="dcterms:W3CDTF">2026-08-03T17:21:49Z</dcterms:modified>
</cp:coreProperties>
</file>